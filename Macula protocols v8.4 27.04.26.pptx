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1" r:id="rId2"/>
    <p:sldId id="259" r:id="rId3"/>
    <p:sldId id="260" r:id="rId4"/>
  </p:sldIdLst>
  <p:sldSz cx="12192000" cy="6858000"/>
  <p:notesSz cx="6808788" cy="9940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BB8"/>
    <a:srgbClr val="60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54D5A-3107-4598-ACAB-51439E74E548}" v="11" dt="2026-04-29T07:38:42.8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706"/>
  </p:normalViewPr>
  <p:slideViewPr>
    <p:cSldViewPr snapToGrid="0" snapToObjects="1">
      <p:cViewPr varScale="1">
        <p:scale>
          <a:sx n="106" d="100"/>
          <a:sy n="106" d="100"/>
        </p:scale>
        <p:origin x="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th Shah" userId="ad81656ebfb15b0e" providerId="LiveId" clId="{B635835E-8690-42BD-885C-AE422999A6E2}"/>
    <pc:docChg chg="undo redo custSel addSld delSld modSld sldOrd">
      <pc:chgData name="Parth Shah" userId="ad81656ebfb15b0e" providerId="LiveId" clId="{B635835E-8690-42BD-885C-AE422999A6E2}" dt="2026-04-29T07:38:42.863" v="3440"/>
      <pc:docMkLst>
        <pc:docMk/>
      </pc:docMkLst>
      <pc:sldChg chg="addSp delSp modSp add mod">
        <pc:chgData name="Parth Shah" userId="ad81656ebfb15b0e" providerId="LiveId" clId="{B635835E-8690-42BD-885C-AE422999A6E2}" dt="2026-04-29T07:37:21.247" v="3437" actId="1076"/>
        <pc:sldMkLst>
          <pc:docMk/>
          <pc:sldMk cId="220496679" sldId="259"/>
        </pc:sldMkLst>
        <pc:spChg chg="add mod">
          <ac:chgData name="Parth Shah" userId="ad81656ebfb15b0e" providerId="LiveId" clId="{B635835E-8690-42BD-885C-AE422999A6E2}" dt="2026-04-29T07:37:21.247" v="3437" actId="1076"/>
          <ac:spMkLst>
            <pc:docMk/>
            <pc:sldMk cId="220496679" sldId="259"/>
            <ac:spMk id="2" creationId="{9CF3B5CB-3449-815E-5AED-E1AC2AAE6DB3}"/>
          </ac:spMkLst>
        </pc:spChg>
        <pc:spChg chg="mod">
          <ac:chgData name="Parth Shah" userId="ad81656ebfb15b0e" providerId="LiveId" clId="{B635835E-8690-42BD-885C-AE422999A6E2}" dt="2026-04-27T12:54:53.247" v="3369" actId="1076"/>
          <ac:spMkLst>
            <pc:docMk/>
            <pc:sldMk cId="220496679" sldId="259"/>
            <ac:spMk id="12" creationId="{9DC9A000-75D8-18AF-2D5C-1A19FACF6469}"/>
          </ac:spMkLst>
        </pc:spChg>
        <pc:spChg chg="del">
          <ac:chgData name="Parth Shah" userId="ad81656ebfb15b0e" providerId="LiveId" clId="{B635835E-8690-42BD-885C-AE422999A6E2}" dt="2026-04-29T07:37:12.480" v="3433" actId="478"/>
          <ac:spMkLst>
            <pc:docMk/>
            <pc:sldMk cId="220496679" sldId="259"/>
            <ac:spMk id="13" creationId="{FF865603-078B-9801-6339-1092B03EBAC4}"/>
          </ac:spMkLst>
        </pc:spChg>
        <pc:spChg chg="mod">
          <ac:chgData name="Parth Shah" userId="ad81656ebfb15b0e" providerId="LiveId" clId="{B635835E-8690-42BD-885C-AE422999A6E2}" dt="2026-04-27T12:53:12.380" v="3253" actId="1076"/>
          <ac:spMkLst>
            <pc:docMk/>
            <pc:sldMk cId="220496679" sldId="259"/>
            <ac:spMk id="21" creationId="{44D9487A-EE49-5D23-792D-A670812D879A}"/>
          </ac:spMkLst>
        </pc:spChg>
        <pc:spChg chg="mod">
          <ac:chgData name="Parth Shah" userId="ad81656ebfb15b0e" providerId="LiveId" clId="{B635835E-8690-42BD-885C-AE422999A6E2}" dt="2026-04-21T19:49:46.283" v="3198" actId="20577"/>
          <ac:spMkLst>
            <pc:docMk/>
            <pc:sldMk cId="220496679" sldId="259"/>
            <ac:spMk id="24" creationId="{AD25A69B-70EC-F835-E32D-6527BE7E6048}"/>
          </ac:spMkLst>
        </pc:spChg>
        <pc:graphicFrameChg chg="mod modGraphic">
          <ac:chgData name="Parth Shah" userId="ad81656ebfb15b0e" providerId="LiveId" clId="{B635835E-8690-42BD-885C-AE422999A6E2}" dt="2026-04-29T07:37:16.702" v="3436" actId="1076"/>
          <ac:graphicFrameMkLst>
            <pc:docMk/>
            <pc:sldMk cId="220496679" sldId="259"/>
            <ac:graphicFrameMk id="4" creationId="{61D9AFB2-C97F-DED3-FB46-D9F084800332}"/>
          </ac:graphicFrameMkLst>
        </pc:graphicFrameChg>
      </pc:sldChg>
      <pc:sldChg chg="addSp delSp modSp add mod">
        <pc:chgData name="Parth Shah" userId="ad81656ebfb15b0e" providerId="LiveId" clId="{B635835E-8690-42BD-885C-AE422999A6E2}" dt="2026-04-29T07:38:42.863" v="3440"/>
        <pc:sldMkLst>
          <pc:docMk/>
          <pc:sldMk cId="2122547234" sldId="260"/>
        </pc:sldMkLst>
        <pc:spChg chg="add mod">
          <ac:chgData name="Parth Shah" userId="ad81656ebfb15b0e" providerId="LiveId" clId="{B635835E-8690-42BD-885C-AE422999A6E2}" dt="2026-04-29T07:38:17.787" v="3439"/>
          <ac:spMkLst>
            <pc:docMk/>
            <pc:sldMk cId="2122547234" sldId="260"/>
            <ac:spMk id="2" creationId="{8095E1E3-0569-ED8D-621A-329C143C6335}"/>
          </ac:spMkLst>
        </pc:spChg>
        <pc:spChg chg="del">
          <ac:chgData name="Parth Shah" userId="ad81656ebfb15b0e" providerId="LiveId" clId="{B635835E-8690-42BD-885C-AE422999A6E2}" dt="2026-04-29T07:38:17.383" v="3438" actId="478"/>
          <ac:spMkLst>
            <pc:docMk/>
            <pc:sldMk cId="2122547234" sldId="260"/>
            <ac:spMk id="13" creationId="{80763A5D-90A4-2778-651E-279CFA4B9242}"/>
          </ac:spMkLst>
        </pc:spChg>
        <pc:spChg chg="mod">
          <ac:chgData name="Parth Shah" userId="ad81656ebfb15b0e" providerId="LiveId" clId="{B635835E-8690-42BD-885C-AE422999A6E2}" dt="2026-04-27T12:56:15.653" v="3379" actId="1076"/>
          <ac:spMkLst>
            <pc:docMk/>
            <pc:sldMk cId="2122547234" sldId="260"/>
            <ac:spMk id="24" creationId="{928DD9D0-BC5F-6C69-7DD9-A2B8CC981F7D}"/>
          </ac:spMkLst>
        </pc:spChg>
        <pc:graphicFrameChg chg="mod modGraphic">
          <ac:chgData name="Parth Shah" userId="ad81656ebfb15b0e" providerId="LiveId" clId="{B635835E-8690-42BD-885C-AE422999A6E2}" dt="2026-04-29T07:38:42.863" v="3440"/>
          <ac:graphicFrameMkLst>
            <pc:docMk/>
            <pc:sldMk cId="2122547234" sldId="260"/>
            <ac:graphicFrameMk id="4" creationId="{E87FC0B3-15E7-F22C-E7BE-22AE57B42B05}"/>
          </ac:graphicFrameMkLst>
        </pc:graphicFrameChg>
      </pc:sldChg>
      <pc:sldChg chg="addSp delSp modSp add mod ord">
        <pc:chgData name="Parth Shah" userId="ad81656ebfb15b0e" providerId="LiveId" clId="{B635835E-8690-42BD-885C-AE422999A6E2}" dt="2026-04-29T07:36:56.372" v="3432" actId="6549"/>
        <pc:sldMkLst>
          <pc:docMk/>
          <pc:sldMk cId="459118742" sldId="261"/>
        </pc:sldMkLst>
        <pc:spChg chg="add mod">
          <ac:chgData name="Parth Shah" userId="ad81656ebfb15b0e" providerId="LiveId" clId="{B635835E-8690-42BD-885C-AE422999A6E2}" dt="2026-04-27T12:41:00.322" v="3211" actId="6549"/>
          <ac:spMkLst>
            <pc:docMk/>
            <pc:sldMk cId="459118742" sldId="261"/>
            <ac:spMk id="2" creationId="{96335F73-CD31-6922-D5BC-98CBD414F454}"/>
          </ac:spMkLst>
        </pc:spChg>
        <pc:spChg chg="mod">
          <ac:chgData name="Parth Shah" userId="ad81656ebfb15b0e" providerId="LiveId" clId="{B635835E-8690-42BD-885C-AE422999A6E2}" dt="2026-04-29T07:35:08.716" v="3415" actId="1076"/>
          <ac:spMkLst>
            <pc:docMk/>
            <pc:sldMk cId="459118742" sldId="261"/>
            <ac:spMk id="12" creationId="{FEF1734B-B069-4DA9-8778-6CFB8FD835ED}"/>
          </ac:spMkLst>
        </pc:spChg>
        <pc:spChg chg="mod">
          <ac:chgData name="Parth Shah" userId="ad81656ebfb15b0e" providerId="LiveId" clId="{B635835E-8690-42BD-885C-AE422999A6E2}" dt="2026-04-29T07:36:56.372" v="3432" actId="6549"/>
          <ac:spMkLst>
            <pc:docMk/>
            <pc:sldMk cId="459118742" sldId="261"/>
            <ac:spMk id="13" creationId="{24EC4EBD-5E10-AFE2-5B0A-FB432BE11578}"/>
          </ac:spMkLst>
        </pc:spChg>
        <pc:spChg chg="mod">
          <ac:chgData name="Parth Shah" userId="ad81656ebfb15b0e" providerId="LiveId" clId="{B635835E-8690-42BD-885C-AE422999A6E2}" dt="2026-04-21T19:45:05.167" v="3196" actId="20577"/>
          <ac:spMkLst>
            <pc:docMk/>
            <pc:sldMk cId="459118742" sldId="261"/>
            <ac:spMk id="24" creationId="{A62D0FE2-29F6-C266-BA6A-95EEC25EE7F4}"/>
          </ac:spMkLst>
        </pc:spChg>
        <pc:graphicFrameChg chg="add del mod modGraphic">
          <ac:chgData name="Parth Shah" userId="ad81656ebfb15b0e" providerId="LiveId" clId="{B635835E-8690-42BD-885C-AE422999A6E2}" dt="2026-04-29T07:35:00.974" v="3414" actId="20577"/>
          <ac:graphicFrameMkLst>
            <pc:docMk/>
            <pc:sldMk cId="459118742" sldId="261"/>
            <ac:graphicFrameMk id="4" creationId="{6ABA8474-771B-7D76-F1BC-F98BB347670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37" y="0"/>
            <a:ext cx="2950475" cy="49877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ECA8F-1103-43C4-AF5C-F603CABE2815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61062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79" y="4784070"/>
            <a:ext cx="5447030" cy="3914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37" y="9442154"/>
            <a:ext cx="2950475" cy="49877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5D0AE-E244-41AC-84AD-4424D971E07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28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7D2BF-6B88-67A8-41F3-143F3839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04990-E7A8-E460-23E3-8C7F37FD1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CC186-9BD8-F270-3D95-3A5F9BCA8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8E3B3-8923-3B4C-EDD3-7B14D3BBA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5D0AE-E244-41AC-84AD-4424D971E07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359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F7BB-3C35-53AD-A42A-64E589CD7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03063-40BC-0023-E986-436AFB625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26F83E-3B8D-9FBD-F75A-79FBD5794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7F2FF-008B-6A97-B2E6-31D658774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5D0AE-E244-41AC-84AD-4424D971E07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987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DC8C4-D9D9-6A56-7ADF-DB3528C4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3162F-3E13-C213-D3E4-085216872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D0080-1209-9194-A4BE-B877042CA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A35B9-E8C9-475A-C48E-FC2F833CC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5D0AE-E244-41AC-84AD-4424D971E07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97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5C3E-EB13-7A3D-4F5D-982C0C65D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2E796-B347-ED32-2D48-41F64B4D4D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71EE-088F-2AE5-55BB-C5065204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F03FF-E6E1-FA70-9FEB-D04D4066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6B861-D930-C4D0-7E2F-DBE9AA75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3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DD5A-C1C6-3FD2-2A64-AEAF77D3F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C7A78-477A-FC6D-0C1E-7DAFD3E4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192A1-841B-683C-931C-7C47233E5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E4DD4-481A-7E6A-FD9E-1552807D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D0478-9361-7216-AD23-66DB532DB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13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729FF-D07D-3F49-BE3B-E37AA1EC3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7F9C6-3E46-48D6-13E4-CF0BA79CA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AC228-436A-85F0-FA8B-AFD85B11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9C2F-4D2C-1E8B-F560-95819F96C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1A3D3-7BB5-973D-57E4-E1E4D62A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2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FF2D-5EC7-C9EE-16A5-5A4F061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FCA8-AB86-7346-3EBA-481C42E67A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62E97-2B95-A5D1-D8F4-6CF37736F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4978A-B405-DD47-3882-A4024B5AE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F61BE-C7D9-5C70-5211-8FC79EEB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D5D34-991D-3B80-E79A-C6CCD788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408D-1478-ABA8-B9A8-4C71FFB4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D2764-3994-E580-F079-E053B8783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091BA-B06D-7526-FB9F-098E24AC6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7BB3B2-B45A-B774-94D2-93617DA3C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3EC9C-E121-FD65-3B26-79E9AF262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D83A5-7612-BEE2-07EF-1AC4D8E55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180E0-18DF-BF7B-3BFB-974204BC1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701C69-06D7-16F9-D3F1-D3929217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9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8605-EB34-1277-5E2D-649FB0B3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83429-9D95-DF7F-9CBC-0E91CCE0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371AA-DE57-1151-7B70-10DA13A9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D4959-3F98-0E41-E3C7-ADFA35C3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65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22238A-415F-FA26-1631-39F10BD0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A7C85-C275-01D9-9D9B-62A4F373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ACF70-D87E-B96D-CF1D-AC32F5738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3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3DB0-BF93-FA78-DBD9-A0BE1265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B6B62-F3A4-75AD-3B29-41E3205E5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9DB82-07D4-53E4-A0D6-2BE77E312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4552C-9FF7-4DCF-2C66-A35CCC635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C5417-DD61-30B3-3E96-18C6B786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D387FD-F6CD-3B6E-DBF4-FA40E065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4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A0AD-20EB-4BA9-EE81-CF7CC387C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CDB374-DBAA-1DDC-09FF-082CCF4FD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9300E4-8BB5-1E13-95E6-4EC6E7095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F72B49-1783-EEC2-F933-337681768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79F71-0B76-91E0-79E4-99CB49F48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54E77-1C3B-3496-9493-5B9C142F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950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78566-4D85-1248-36E3-20D1A1519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F2B1C-0A66-91DF-D8B5-49ED2466D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7BC7-47DD-AF35-5348-20CE361E0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7A987-5766-A76B-4793-7055E67F0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87881-BE49-FD1F-1028-2CE4EB59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7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C636E6-44C9-10DE-0D87-DC19198D0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1F8FA-F2B4-2B57-E1C2-E1E2F3F12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DBAEE-85F8-DE4C-7C92-30AD1414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393CE-BBA4-7A57-B5F0-B6F4F1C51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5937C-8BD9-5A47-E137-5DE5ECB9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1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D1996-7A32-CCC6-0A53-E3055EA83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43395-D22D-530E-F907-1A0F9543B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A5427-026D-EE7A-6F34-EAA1DFEA7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49343-1735-144D-A085-5385803FA94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89A21-53CF-F0CD-115D-3C34D0B260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7D3B0-27DC-10E1-1C18-4785040A12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EA198-FB95-B542-8C09-5A5DA8C42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2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9FE09-2BB8-2CEB-FEA0-037E340BD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BA8474-771B-7D76-F1BC-F98BB34767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874507"/>
              </p:ext>
            </p:extLst>
          </p:nvPr>
        </p:nvGraphicFramePr>
        <p:xfrm>
          <a:off x="268147" y="240559"/>
          <a:ext cx="8680361" cy="633225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8680361">
                  <a:extLst>
                    <a:ext uri="{9D8B030D-6E8A-4147-A177-3AD203B41FA5}">
                      <a16:colId xmlns:a16="http://schemas.microsoft.com/office/drawing/2014/main" val="310816998"/>
                    </a:ext>
                  </a:extLst>
                </a:gridCol>
              </a:tblGrid>
              <a:tr h="67019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nAMD</a:t>
                      </a:r>
                    </a:p>
                  </a:txBody>
                  <a:tcPr>
                    <a:solidFill>
                      <a:srgbClr val="60A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002913"/>
                  </a:ext>
                </a:extLst>
              </a:tr>
              <a:tr h="4486693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First Line Therapy</a:t>
                      </a:r>
                    </a:p>
                    <a:p>
                      <a:endParaRPr lang="en-US" sz="1500" b="1" dirty="0"/>
                    </a:p>
                    <a:p>
                      <a:r>
                        <a:rPr lang="en-GB" sz="1500" b="1" dirty="0"/>
                        <a:t>Aflibercept 2mg Biosimilar (Alternative: Ranibizumab)</a:t>
                      </a:r>
                    </a:p>
                    <a:p>
                      <a:r>
                        <a:rPr lang="en-GB" sz="1500" b="0" dirty="0"/>
                        <a:t>Loading Phase: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 (x2) </a:t>
                      </a:r>
                      <a:r>
                        <a:rPr lang="en-US" sz="1500" dirty="0"/>
                        <a:t>**</a:t>
                      </a:r>
                    </a:p>
                    <a:p>
                      <a:endParaRPr lang="en-US" sz="15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Second Line Therapy – Loading NOT mandatory when switching from 1</a:t>
                      </a:r>
                      <a:r>
                        <a:rPr lang="en-US" sz="1500" b="1" baseline="30000" dirty="0">
                          <a:solidFill>
                            <a:schemeClr val="accent1"/>
                          </a:solidFill>
                        </a:rPr>
                        <a:t>st</a:t>
                      </a: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 to 2</a:t>
                      </a:r>
                      <a:r>
                        <a:rPr lang="en-US" sz="1500" b="1" baseline="30000" dirty="0">
                          <a:solidFill>
                            <a:schemeClr val="accent1"/>
                          </a:solidFill>
                        </a:rPr>
                        <a:t>nd</a:t>
                      </a: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 line - Clinician discretion </a:t>
                      </a:r>
                    </a:p>
                    <a:p>
                      <a:endParaRPr lang="en-GB" sz="15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dirty="0"/>
                        <a:t>Aflibercept 8mg (HD Eylea)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dirty="0"/>
                        <a:t>Loading dose: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weeks*</a:t>
                      </a:r>
                      <a:r>
                        <a:rPr lang="en-US" sz="1500" dirty="0"/>
                        <a:t>* (x2) No minimum dose interval</a:t>
                      </a:r>
                    </a:p>
                    <a:p>
                      <a:r>
                        <a:rPr lang="en-GB" sz="1500" b="0" dirty="0">
                          <a:solidFill>
                            <a:schemeClr val="accent1"/>
                          </a:solidFill>
                        </a:rPr>
                        <a:t>OR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1" dirty="0"/>
                        <a:t>Faricimab (Vabysmo)</a:t>
                      </a:r>
                      <a:endParaRPr lang="en-GB" sz="1500" b="0" dirty="0"/>
                    </a:p>
                    <a:p>
                      <a:r>
                        <a:rPr lang="en-GB" sz="1500" b="0" dirty="0"/>
                        <a:t>Loading dose: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weeks** (x2)</a:t>
                      </a:r>
                    </a:p>
                    <a:p>
                      <a:endParaRPr lang="en-GB" sz="15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Third Line Therapy </a:t>
                      </a:r>
                    </a:p>
                    <a:p>
                      <a:endParaRPr lang="en-GB" sz="1500" b="0" dirty="0"/>
                    </a:p>
                    <a:p>
                      <a:r>
                        <a:rPr lang="en-GB" sz="1500" b="1" dirty="0"/>
                        <a:t>Bevacizumab (Avastin) </a:t>
                      </a:r>
                    </a:p>
                    <a:p>
                      <a:r>
                        <a:rPr lang="en-GB" sz="1500" b="0" dirty="0"/>
                        <a:t>Loading dose: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weeks*</a:t>
                      </a:r>
                      <a:r>
                        <a:rPr lang="en-US" sz="1500" dirty="0"/>
                        <a:t>* (x2) </a:t>
                      </a:r>
                      <a:endParaRPr lang="en-GB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79671"/>
                  </a:ext>
                </a:extLst>
              </a:tr>
              <a:tr h="770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Patients need to be seen at least every 6 months in MR clinic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*If Anti-VEGF cannot be extended beyond Q8W interval consider switching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**End of pathway protocol for nAMD: MR clinic 4 months after last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7741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EF1734B-B069-4DA9-8778-6CFB8FD835ED}"/>
              </a:ext>
            </a:extLst>
          </p:cNvPr>
          <p:cNvSpPr txBox="1"/>
          <p:nvPr/>
        </p:nvSpPr>
        <p:spPr>
          <a:xfrm>
            <a:off x="94593" y="6572818"/>
            <a:ext cx="1838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T&amp;E: </a:t>
            </a:r>
            <a:r>
              <a:rPr lang="en-US" sz="1200" dirty="0"/>
              <a:t>2-4 weeks increment </a:t>
            </a:r>
            <a:endParaRPr lang="en-GB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C4EBD-5E10-AFE2-5B0A-FB432BE11578}"/>
              </a:ext>
            </a:extLst>
          </p:cNvPr>
          <p:cNvSpPr txBox="1"/>
          <p:nvPr/>
        </p:nvSpPr>
        <p:spPr>
          <a:xfrm>
            <a:off x="9110262" y="6552776"/>
            <a:ext cx="15840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v.8.4 updated on 29.04.26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71C300-1021-C85A-7069-E5E122DAE6CB}"/>
              </a:ext>
            </a:extLst>
          </p:cNvPr>
          <p:cNvSpPr txBox="1"/>
          <p:nvPr/>
        </p:nvSpPr>
        <p:spPr>
          <a:xfrm>
            <a:off x="10482486" y="102059"/>
            <a:ext cx="1543199" cy="2769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Maximum switches: 3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2D0FE2-29F6-C266-BA6A-95EEC25EE7F4}"/>
              </a:ext>
            </a:extLst>
          </p:cNvPr>
          <p:cNvSpPr txBox="1"/>
          <p:nvPr/>
        </p:nvSpPr>
        <p:spPr>
          <a:xfrm>
            <a:off x="8992399" y="4728700"/>
            <a:ext cx="3033286" cy="175432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Consider STOPPING 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VA &lt;15 letters attributed to nAMD on 2 consecutive visits and not the better seeing eye </a:t>
            </a:r>
          </a:p>
          <a:p>
            <a:r>
              <a:rPr lang="en-GB" sz="1200" dirty="0">
                <a:solidFill>
                  <a:schemeClr val="bg1"/>
                </a:solidFill>
              </a:rPr>
              <a:t>OR </a:t>
            </a:r>
          </a:p>
          <a:p>
            <a:r>
              <a:rPr lang="en-GB" sz="1200" dirty="0">
                <a:solidFill>
                  <a:schemeClr val="bg1"/>
                </a:solidFill>
              </a:rPr>
              <a:t>Irreversible structural changes WITH no prospect of visual  improvement with continued treatment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335F73-CD31-6922-D5BC-98CBD414F454}"/>
              </a:ext>
            </a:extLst>
          </p:cNvPr>
          <p:cNvSpPr txBox="1"/>
          <p:nvPr/>
        </p:nvSpPr>
        <p:spPr>
          <a:xfrm>
            <a:off x="8992399" y="467524"/>
            <a:ext cx="3033286" cy="175432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</a:rPr>
              <a:t>NICE TA Criteria 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solidFill>
                  <a:schemeClr val="bg1"/>
                </a:solidFill>
              </a:rPr>
              <a:t>BCVA between 6/12 and 6/96  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solidFill>
                  <a:schemeClr val="bg1"/>
                </a:solidFill>
              </a:rPr>
              <a:t>No permanent structural damage to the central fovea  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solidFill>
                  <a:schemeClr val="bg1"/>
                </a:solidFill>
              </a:rPr>
              <a:t>Lesion size ≤ 12-disc areas in greatest linear dimension </a:t>
            </a:r>
          </a:p>
          <a:p>
            <a:pPr marL="171450" indent="-171450">
              <a:buFontTx/>
              <a:buChar char="-"/>
            </a:pPr>
            <a:r>
              <a:rPr lang="en-GB" sz="1200" dirty="0">
                <a:solidFill>
                  <a:schemeClr val="bg1"/>
                </a:solidFill>
              </a:rPr>
              <a:t>Evidence of recent disease progression </a:t>
            </a:r>
          </a:p>
          <a:p>
            <a:r>
              <a:rPr lang="en-GB" sz="1200" dirty="0">
                <a:solidFill>
                  <a:schemeClr val="bg1"/>
                </a:solidFill>
              </a:rPr>
              <a:t>If outside, then </a:t>
            </a:r>
            <a:r>
              <a:rPr lang="en-GB" sz="1200" dirty="0">
                <a:solidFill>
                  <a:srgbClr val="FF0000"/>
                </a:solidFill>
              </a:rPr>
              <a:t>Bevacizumab can be offered </a:t>
            </a:r>
          </a:p>
          <a:p>
            <a:pPr marL="171450" indent="-171450">
              <a:buFontTx/>
              <a:buChar char="-"/>
            </a:pP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F2EA4F-DFB9-A06B-814B-20461EA90C9F}"/>
              </a:ext>
            </a:extLst>
          </p:cNvPr>
          <p:cNvSpPr txBox="1"/>
          <p:nvPr/>
        </p:nvSpPr>
        <p:spPr>
          <a:xfrm>
            <a:off x="8992399" y="2310316"/>
            <a:ext cx="3033286" cy="2308324"/>
          </a:xfrm>
          <a:prstGeom prst="rect">
            <a:avLst/>
          </a:prstGeom>
          <a:solidFill>
            <a:srgbClr val="007BB8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</a:rPr>
              <a:t>Suboptimal response - </a:t>
            </a:r>
            <a:r>
              <a:rPr lang="en-GB" sz="1200" dirty="0">
                <a:solidFill>
                  <a:schemeClr val="bg1"/>
                </a:solidFill>
              </a:rPr>
              <a:t>Continue with REGULAR intervals: If active disease remains, maintain regular dosing. Switch to a second-choice option if active disease persists 4–8 weeks after the last injection.</a:t>
            </a:r>
          </a:p>
          <a:p>
            <a:endParaRPr lang="en-GB" sz="1200" b="1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If features of persistent active disease, such as </a:t>
            </a:r>
            <a:r>
              <a:rPr lang="en-GB" sz="1200" b="1" dirty="0">
                <a:solidFill>
                  <a:schemeClr val="bg1"/>
                </a:solidFill>
              </a:rPr>
              <a:t>persistent haemorrhage</a:t>
            </a:r>
            <a:r>
              <a:rPr lang="en-GB" sz="1200" dirty="0">
                <a:solidFill>
                  <a:schemeClr val="bg1"/>
                </a:solidFill>
              </a:rPr>
              <a:t>, subretinal fluid, or SRHM, treatment intervals should be </a:t>
            </a:r>
            <a:r>
              <a:rPr lang="en-GB" sz="1200" b="1" dirty="0">
                <a:solidFill>
                  <a:schemeClr val="bg1"/>
                </a:solidFill>
              </a:rPr>
              <a:t>reduced</a:t>
            </a:r>
            <a:r>
              <a:rPr lang="en-GB" sz="1200" dirty="0">
                <a:solidFill>
                  <a:schemeClr val="bg1"/>
                </a:solidFill>
              </a:rPr>
              <a:t>. A </a:t>
            </a:r>
            <a:r>
              <a:rPr lang="en-GB" sz="1200" b="1" dirty="0">
                <a:solidFill>
                  <a:schemeClr val="bg1"/>
                </a:solidFill>
              </a:rPr>
              <a:t>4-weekly interval</a:t>
            </a:r>
            <a:r>
              <a:rPr lang="en-GB" sz="1200" dirty="0">
                <a:solidFill>
                  <a:schemeClr val="bg1"/>
                </a:solidFill>
              </a:rPr>
              <a:t> should be maintained if the disease is known to worsen with longer intervals</a:t>
            </a:r>
          </a:p>
        </p:txBody>
      </p:sp>
    </p:spTree>
    <p:extLst>
      <p:ext uri="{BB962C8B-B14F-4D97-AF65-F5344CB8AC3E}">
        <p14:creationId xmlns:p14="http://schemas.microsoft.com/office/powerpoint/2010/main" val="45911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0983B-F1B4-4800-2B6F-A95351E3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D9AFB2-C97F-DED3-FB46-D9F0848003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769546"/>
              </p:ext>
            </p:extLst>
          </p:nvPr>
        </p:nvGraphicFramePr>
        <p:xfrm>
          <a:off x="268147" y="240559"/>
          <a:ext cx="11655706" cy="6558438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1655706">
                  <a:extLst>
                    <a:ext uri="{9D8B030D-6E8A-4147-A177-3AD203B41FA5}">
                      <a16:colId xmlns:a16="http://schemas.microsoft.com/office/drawing/2014/main" val="310816998"/>
                    </a:ext>
                  </a:extLst>
                </a:gridCol>
              </a:tblGrid>
              <a:tr h="68348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002913"/>
                  </a:ext>
                </a:extLst>
              </a:tr>
              <a:tr h="5222182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First Line Therapy </a:t>
                      </a:r>
                    </a:p>
                    <a:p>
                      <a:endParaRPr lang="en-US" sz="1500" b="1" dirty="0"/>
                    </a:p>
                    <a:p>
                      <a:r>
                        <a:rPr lang="en-GB" sz="1500" b="1" dirty="0"/>
                        <a:t>Aflibercept 2mg Biosimilar (Alternative: Ranibizumab) – </a:t>
                      </a:r>
                      <a:r>
                        <a:rPr lang="en-GB" sz="1500" b="1" dirty="0">
                          <a:solidFill>
                            <a:srgbClr val="FF0000"/>
                          </a:solidFill>
                        </a:rPr>
                        <a:t>Ozurdex can be offered as 1</a:t>
                      </a:r>
                      <a:r>
                        <a:rPr lang="en-GB" sz="1500" b="1" baseline="30000" dirty="0">
                          <a:solidFill>
                            <a:srgbClr val="FF0000"/>
                          </a:solidFill>
                        </a:rPr>
                        <a:t>st</a:t>
                      </a:r>
                      <a:r>
                        <a:rPr lang="en-GB" sz="1500" b="1" dirty="0">
                          <a:solidFill>
                            <a:srgbClr val="FF0000"/>
                          </a:solidFill>
                        </a:rPr>
                        <a:t> line if appropriate  </a:t>
                      </a:r>
                    </a:p>
                    <a:p>
                      <a:r>
                        <a:rPr lang="en-GB" sz="1500" b="0" dirty="0"/>
                        <a:t>Loading Phase: </a:t>
                      </a:r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4 injections every 4 weeks, OCT at 4</a:t>
                      </a:r>
                      <a:r>
                        <a:rPr lang="en-GB" sz="1500" b="1" baseline="30000" dirty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GB" sz="1500" b="1" dirty="0">
                          <a:solidFill>
                            <a:schemeClr val="tx1"/>
                          </a:solidFill>
                        </a:rPr>
                        <a:t> visit</a:t>
                      </a:r>
                      <a:r>
                        <a:rPr lang="en-GB" sz="1500" b="0" dirty="0"/>
                        <a:t>. 5th injection at 8 weeks with OCT,</a:t>
                      </a:r>
                    </a:p>
                    <a:p>
                      <a:r>
                        <a:rPr lang="en-GB" sz="1500" b="0" dirty="0"/>
                        <a:t>then T&amp;E* until 16 weeks</a:t>
                      </a:r>
                      <a:r>
                        <a:rPr lang="en-US" sz="1500" dirty="0"/>
                        <a:t>**</a:t>
                      </a:r>
                    </a:p>
                    <a:p>
                      <a:endParaRPr lang="en-US" sz="1500" b="0" dirty="0"/>
                    </a:p>
                    <a:p>
                      <a:endParaRPr lang="en-US" sz="1500" b="0" dirty="0"/>
                    </a:p>
                    <a:p>
                      <a:endParaRPr lang="en-US" sz="1500" b="0" dirty="0"/>
                    </a:p>
                    <a:p>
                      <a:endParaRPr lang="en-US" sz="15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Second Line Therapy - Loading NOT mandatory when switching from 1</a:t>
                      </a:r>
                      <a:r>
                        <a:rPr lang="en-US" sz="1500" b="1" baseline="30000" dirty="0">
                          <a:solidFill>
                            <a:schemeClr val="accent1"/>
                          </a:solidFill>
                        </a:rPr>
                        <a:t>st</a:t>
                      </a: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 to 2</a:t>
                      </a:r>
                      <a:r>
                        <a:rPr lang="en-US" sz="1500" b="1" baseline="30000" dirty="0">
                          <a:solidFill>
                            <a:schemeClr val="accent1"/>
                          </a:solidFill>
                        </a:rPr>
                        <a:t>nd</a:t>
                      </a: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 line – Clinician discretion </a:t>
                      </a:r>
                    </a:p>
                    <a:p>
                      <a:endParaRPr lang="en-GB" sz="1500" b="0" dirty="0"/>
                    </a:p>
                    <a:p>
                      <a:r>
                        <a:rPr lang="en-GB" sz="1500" b="1" dirty="0"/>
                        <a:t>Aflibercept 8mg (HD Eylea)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500" b="0" dirty="0"/>
                        <a:t>Loading dose: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weeks*</a:t>
                      </a:r>
                      <a:r>
                        <a:rPr lang="en-US" sz="1500" dirty="0"/>
                        <a:t>*</a:t>
                      </a:r>
                    </a:p>
                    <a:p>
                      <a:r>
                        <a:rPr lang="en-GB" sz="1500" b="0" dirty="0"/>
                        <a:t>OR </a:t>
                      </a:r>
                    </a:p>
                    <a:p>
                      <a:r>
                        <a:rPr lang="en-GB" sz="1500" b="1" dirty="0"/>
                        <a:t>Faricimab (Vabysmo)</a:t>
                      </a:r>
                      <a:endParaRPr lang="en-GB" sz="1500" b="0" dirty="0"/>
                    </a:p>
                    <a:p>
                      <a:r>
                        <a:rPr lang="en-GB" sz="1500" b="0" dirty="0"/>
                        <a:t>Loading dose: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weeks**</a:t>
                      </a:r>
                    </a:p>
                    <a:p>
                      <a:r>
                        <a:rPr lang="en-GB" sz="1500" b="0" dirty="0"/>
                        <a:t>OR </a:t>
                      </a:r>
                    </a:p>
                    <a:p>
                      <a:r>
                        <a:rPr lang="en-GB" sz="1500" b="1" dirty="0"/>
                        <a:t>Dexamethasone Implant (Ozurdex) - </a:t>
                      </a:r>
                      <a:r>
                        <a:rPr lang="en-GB" sz="1500" b="0" i="1" dirty="0"/>
                        <a:t>More appropriate (Recent CV event – within 6 months/Pregnancy/Unable to comply with frequent injections) </a:t>
                      </a:r>
                    </a:p>
                    <a:p>
                      <a:r>
                        <a:rPr lang="en-GB" sz="1500" b="0" dirty="0">
                          <a:solidFill>
                            <a:srgbClr val="FF0000"/>
                          </a:solidFill>
                        </a:rPr>
                        <a:t>Can be repeated 6 monthly (max 7 per eye). </a:t>
                      </a:r>
                      <a:r>
                        <a:rPr lang="en-GB" sz="1500" b="0" dirty="0"/>
                        <a:t>Phakic/Pseudophakic. If responsive, can be considered for </a:t>
                      </a:r>
                      <a:r>
                        <a:rPr lang="en-GB" sz="1500" b="1" dirty="0"/>
                        <a:t>Fluocinolone acetonide (Iluvien) </a:t>
                      </a:r>
                      <a:r>
                        <a:rPr lang="en-GB" sz="1500" b="0" dirty="0"/>
                        <a:t>implant </a:t>
                      </a:r>
                      <a:r>
                        <a:rPr lang="en-GB" sz="1500" b="0" dirty="0">
                          <a:solidFill>
                            <a:srgbClr val="FF0000"/>
                          </a:solidFill>
                        </a:rPr>
                        <a:t>(2 implants total per eye - repeat after 12 months if worsening DMO or after at least 3 years (if responded to initial implant))</a:t>
                      </a:r>
                    </a:p>
                    <a:p>
                      <a:endParaRPr lang="en-GB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79671"/>
                  </a:ext>
                </a:extLst>
              </a:tr>
              <a:tr h="6527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Patients need to be seen at least every 6 months in MR clinic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*If Anti-VEGF cannot be extended beyond Q8W interval consider switching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**End of pathway protocol for DMO: MR clinic 4 months after last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7741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DC9A000-75D8-18AF-2D5C-1A19FACF6469}"/>
              </a:ext>
            </a:extLst>
          </p:cNvPr>
          <p:cNvSpPr txBox="1"/>
          <p:nvPr/>
        </p:nvSpPr>
        <p:spPr>
          <a:xfrm>
            <a:off x="5570710" y="6478942"/>
            <a:ext cx="1838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T&amp;E: </a:t>
            </a:r>
            <a:r>
              <a:rPr lang="en-US" sz="1200" dirty="0"/>
              <a:t>2-4 weeks increment </a:t>
            </a:r>
            <a:endParaRPr lang="en-GB" sz="1200" dirty="0"/>
          </a:p>
        </p:txBody>
      </p:sp>
      <p:sp>
        <p:nvSpPr>
          <p:cNvPr id="21" name="Call-out: Down Arrow 20">
            <a:extLst>
              <a:ext uri="{FF2B5EF4-FFF2-40B4-BE49-F238E27FC236}">
                <a16:creationId xmlns:a16="http://schemas.microsoft.com/office/drawing/2014/main" id="{44D9487A-EE49-5D23-792D-A670812D879A}"/>
              </a:ext>
            </a:extLst>
          </p:cNvPr>
          <p:cNvSpPr/>
          <p:nvPr/>
        </p:nvSpPr>
        <p:spPr>
          <a:xfrm>
            <a:off x="348943" y="2237544"/>
            <a:ext cx="7264749" cy="1060871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100" dirty="0">
              <a:solidFill>
                <a:schemeClr val="bg1"/>
              </a:solidFill>
            </a:endParaRP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Response Assessment at Week 24 (5</a:t>
            </a:r>
            <a:r>
              <a:rPr lang="en-GB" sz="1100" baseline="30000" dirty="0">
                <a:solidFill>
                  <a:schemeClr val="bg1"/>
                </a:solidFill>
              </a:rPr>
              <a:t>th</a:t>
            </a:r>
            <a:r>
              <a:rPr lang="en-GB" sz="1100" dirty="0">
                <a:solidFill>
                  <a:schemeClr val="bg1"/>
                </a:solidFill>
              </a:rPr>
              <a:t> injection visit) 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Good Response: ≥ 20% reduction in CRT OR  ≥ 5 letter gain in VA. → Continue T&amp;E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Suboptimal Response: &lt;20% reduction in CRT AND &lt; 5 letter gain in VA → Consider Switch</a:t>
            </a:r>
          </a:p>
          <a:p>
            <a:pPr algn="ctr"/>
            <a:r>
              <a:rPr lang="en-GB" sz="1100" dirty="0">
                <a:solidFill>
                  <a:schemeClr val="bg1"/>
                </a:solidFill>
              </a:rPr>
              <a:t>Poor Response: Increase in CRT OR decrease in VA. → Switch </a:t>
            </a:r>
            <a:endParaRPr lang="en-US" sz="1100" dirty="0">
              <a:solidFill>
                <a:schemeClr val="bg1"/>
              </a:solidFill>
            </a:endParaRPr>
          </a:p>
          <a:p>
            <a:pPr algn="ctr"/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A0BA7A-8B2A-51BA-200C-FA39F8718A32}"/>
              </a:ext>
            </a:extLst>
          </p:cNvPr>
          <p:cNvSpPr txBox="1"/>
          <p:nvPr/>
        </p:nvSpPr>
        <p:spPr>
          <a:xfrm>
            <a:off x="10299858" y="1048233"/>
            <a:ext cx="1543199" cy="2769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Maximum switches: 4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25A69B-70EC-F835-E32D-6527BE7E6048}"/>
              </a:ext>
            </a:extLst>
          </p:cNvPr>
          <p:cNvSpPr txBox="1"/>
          <p:nvPr/>
        </p:nvSpPr>
        <p:spPr>
          <a:xfrm>
            <a:off x="8809771" y="1533790"/>
            <a:ext cx="3033286" cy="1938992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Consider STOPPING 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VA &lt;15 letters attributed to DMO </a:t>
            </a:r>
          </a:p>
          <a:p>
            <a:r>
              <a:rPr lang="en-GB" sz="1200" dirty="0">
                <a:solidFill>
                  <a:schemeClr val="bg1"/>
                </a:solidFill>
              </a:rPr>
              <a:t>OR </a:t>
            </a:r>
          </a:p>
          <a:p>
            <a:r>
              <a:rPr lang="en-GB" sz="1200" dirty="0">
                <a:solidFill>
                  <a:schemeClr val="bg1"/>
                </a:solidFill>
              </a:rPr>
              <a:t>No response (i.e. no change or worsening CRT AND VA) </a:t>
            </a:r>
          </a:p>
          <a:p>
            <a:r>
              <a:rPr lang="en-GB" sz="1200" dirty="0">
                <a:solidFill>
                  <a:schemeClr val="bg1"/>
                </a:solidFill>
              </a:rPr>
              <a:t>OR </a:t>
            </a:r>
          </a:p>
          <a:p>
            <a:r>
              <a:rPr lang="en-GB" sz="1200" dirty="0">
                <a:solidFill>
                  <a:schemeClr val="bg1"/>
                </a:solidFill>
              </a:rPr>
              <a:t>Irreversible structural changes WITH no prospect of visual  improvement with continued treatment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F3B5CB-3449-815E-5AED-E1AC2AAE6DB3}"/>
              </a:ext>
            </a:extLst>
          </p:cNvPr>
          <p:cNvSpPr txBox="1"/>
          <p:nvPr/>
        </p:nvSpPr>
        <p:spPr>
          <a:xfrm>
            <a:off x="10253780" y="6474507"/>
            <a:ext cx="15840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v.8.4 updated on 29.04.26 </a:t>
            </a:r>
          </a:p>
        </p:txBody>
      </p:sp>
    </p:spTree>
    <p:extLst>
      <p:ext uri="{BB962C8B-B14F-4D97-AF65-F5344CB8AC3E}">
        <p14:creationId xmlns:p14="http://schemas.microsoft.com/office/powerpoint/2010/main" val="220496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DD8C-6841-72A1-06B6-E9F01C3CA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7FC0B3-15E7-F22C-E7BE-22AE57B42B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771257"/>
              </p:ext>
            </p:extLst>
          </p:nvPr>
        </p:nvGraphicFramePr>
        <p:xfrm>
          <a:off x="268147" y="68183"/>
          <a:ext cx="11655706" cy="633225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1655706">
                  <a:extLst>
                    <a:ext uri="{9D8B030D-6E8A-4147-A177-3AD203B41FA5}">
                      <a16:colId xmlns:a16="http://schemas.microsoft.com/office/drawing/2014/main" val="310816998"/>
                    </a:ext>
                  </a:extLst>
                </a:gridCol>
              </a:tblGrid>
              <a:tr h="670193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RVO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002913"/>
                  </a:ext>
                </a:extLst>
              </a:tr>
              <a:tr h="4486693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First Line Therapy </a:t>
                      </a:r>
                    </a:p>
                    <a:p>
                      <a:endParaRPr lang="en-US" sz="1500" b="1" dirty="0"/>
                    </a:p>
                    <a:p>
                      <a:r>
                        <a:rPr lang="en-GB" sz="1500" b="1" dirty="0"/>
                        <a:t>Aflibercept 2mg Biosimilar (Alternative: Ranibizumab) – </a:t>
                      </a:r>
                      <a:r>
                        <a:rPr lang="en-GB" sz="1500" b="1" dirty="0">
                          <a:solidFill>
                            <a:srgbClr val="FF0000"/>
                          </a:solidFill>
                        </a:rPr>
                        <a:t>Ozurdex can be offered as 1</a:t>
                      </a:r>
                      <a:r>
                        <a:rPr lang="en-GB" sz="1500" b="1" baseline="30000" dirty="0">
                          <a:solidFill>
                            <a:srgbClr val="FF0000"/>
                          </a:solidFill>
                        </a:rPr>
                        <a:t>st</a:t>
                      </a:r>
                      <a:r>
                        <a:rPr lang="en-GB" sz="1500" b="1" dirty="0">
                          <a:solidFill>
                            <a:srgbClr val="FF0000"/>
                          </a:solidFill>
                        </a:rPr>
                        <a:t> line if appropriate </a:t>
                      </a:r>
                      <a:endParaRPr lang="en-GB" sz="1500" b="1" dirty="0"/>
                    </a:p>
                    <a:p>
                      <a:r>
                        <a:rPr lang="en-GB" sz="1500" b="0" dirty="0"/>
                        <a:t>Loading Phase: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</a:t>
                      </a:r>
                      <a:r>
                        <a:rPr lang="en-US" sz="1500" dirty="0"/>
                        <a:t>**</a:t>
                      </a:r>
                    </a:p>
                    <a:p>
                      <a:endParaRPr lang="en-US" sz="1500" b="0" dirty="0"/>
                    </a:p>
                    <a:p>
                      <a:endParaRPr lang="en-US" sz="1500" b="0" dirty="0"/>
                    </a:p>
                    <a:p>
                      <a:endParaRPr lang="en-US" sz="1500" b="0" dirty="0"/>
                    </a:p>
                    <a:p>
                      <a:endParaRPr lang="en-US" sz="1500" b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0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500" b="1" dirty="0">
                        <a:solidFill>
                          <a:schemeClr val="accent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Second Line Therapy - Loading NOT mandatory when switching from 1</a:t>
                      </a:r>
                      <a:r>
                        <a:rPr lang="en-US" sz="1500" b="1" baseline="30000" dirty="0">
                          <a:solidFill>
                            <a:schemeClr val="accent1"/>
                          </a:solidFill>
                        </a:rPr>
                        <a:t>st</a:t>
                      </a: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 to 2</a:t>
                      </a:r>
                      <a:r>
                        <a:rPr lang="en-US" sz="1500" b="1" baseline="30000" dirty="0">
                          <a:solidFill>
                            <a:schemeClr val="accent1"/>
                          </a:solidFill>
                        </a:rPr>
                        <a:t>nd</a:t>
                      </a: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 line – Clinician discretion </a:t>
                      </a:r>
                    </a:p>
                    <a:p>
                      <a:endParaRPr lang="en-GB" sz="1500" b="0" dirty="0"/>
                    </a:p>
                    <a:p>
                      <a:r>
                        <a:rPr lang="en-GB" sz="1500" b="1" dirty="0"/>
                        <a:t>Faricimab (Vabysmo)</a:t>
                      </a:r>
                      <a:endParaRPr lang="en-GB" sz="1500" b="0" dirty="0"/>
                    </a:p>
                    <a:p>
                      <a:r>
                        <a:rPr lang="en-GB" sz="1500" b="0" dirty="0"/>
                        <a:t>Loading dose: 3 injections every 4 weeks, OCT at 3</a:t>
                      </a:r>
                      <a:r>
                        <a:rPr lang="en-GB" sz="1500" b="0" baseline="30000" dirty="0"/>
                        <a:t>rd</a:t>
                      </a:r>
                      <a:r>
                        <a:rPr lang="en-GB" sz="1500" b="0" dirty="0"/>
                        <a:t> visit. 4th injection at 8 weeks with OCT, then T&amp;E* until 16 weeks**</a:t>
                      </a:r>
                    </a:p>
                    <a:p>
                      <a:r>
                        <a:rPr lang="en-GB" sz="1500" b="0" dirty="0"/>
                        <a:t>OR </a:t>
                      </a:r>
                    </a:p>
                    <a:p>
                      <a:r>
                        <a:rPr lang="en-GB" sz="1500" b="1" dirty="0"/>
                        <a:t>Dexamethasone Implant (Ozurdex) - </a:t>
                      </a:r>
                      <a:r>
                        <a:rPr lang="en-GB" sz="1500" b="0" i="1" dirty="0"/>
                        <a:t>More appropriate (Recent CV event – within 6 months/Pregnancy/Unable to comply with frequent injections) </a:t>
                      </a:r>
                    </a:p>
                    <a:p>
                      <a:r>
                        <a:rPr lang="en-GB" sz="1500" b="0" dirty="0"/>
                        <a:t>Can be repeated 6 monthly </a:t>
                      </a:r>
                      <a:r>
                        <a:rPr lang="en-GB" sz="1500" b="0" dirty="0">
                          <a:solidFill>
                            <a:srgbClr val="FF0000"/>
                          </a:solidFill>
                        </a:rPr>
                        <a:t>(Maximum 6 implants per eye). </a:t>
                      </a:r>
                      <a:r>
                        <a:rPr lang="en-GB" sz="1500" b="0" dirty="0"/>
                        <a:t>Phakic/Pseudophakic. IOP monitoring mandatory</a:t>
                      </a:r>
                    </a:p>
                    <a:p>
                      <a:endParaRPr lang="en-GB" sz="15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79671"/>
                  </a:ext>
                </a:extLst>
              </a:tr>
              <a:tr h="7700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Patients need to be seen at least every 6 months in MR clinic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*If Anti-VEGF cannot be extended beyond Q8W interval consider switching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**End of pathway protocol for RVO: MR clinic 4 months after last injection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7741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699702-FADD-7556-3D9A-4A72251A05FC}"/>
              </a:ext>
            </a:extLst>
          </p:cNvPr>
          <p:cNvSpPr txBox="1"/>
          <p:nvPr/>
        </p:nvSpPr>
        <p:spPr>
          <a:xfrm>
            <a:off x="94593" y="6478942"/>
            <a:ext cx="18384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/>
              <a:t>T&amp;E: </a:t>
            </a:r>
            <a:r>
              <a:rPr lang="en-US" sz="1200" dirty="0"/>
              <a:t>2-4 weeks increment </a:t>
            </a:r>
            <a:endParaRPr lang="en-GB" sz="1200" dirty="0"/>
          </a:p>
        </p:txBody>
      </p:sp>
      <p:sp>
        <p:nvSpPr>
          <p:cNvPr id="21" name="Call-out: Down Arrow 20">
            <a:extLst>
              <a:ext uri="{FF2B5EF4-FFF2-40B4-BE49-F238E27FC236}">
                <a16:creationId xmlns:a16="http://schemas.microsoft.com/office/drawing/2014/main" id="{0C1B1A70-07CD-6F2F-435F-5CB9BB212C3C}"/>
              </a:ext>
            </a:extLst>
          </p:cNvPr>
          <p:cNvSpPr/>
          <p:nvPr/>
        </p:nvSpPr>
        <p:spPr>
          <a:xfrm>
            <a:off x="359454" y="2083162"/>
            <a:ext cx="8204375" cy="1599663"/>
          </a:xfrm>
          <a:prstGeom prst="down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Favourable Disease Outcome</a:t>
            </a:r>
            <a:r>
              <a:rPr lang="en-GB" sz="1200" dirty="0"/>
              <a:t> (Resolution of CI-MO) - Continue T&amp;E</a:t>
            </a:r>
          </a:p>
          <a:p>
            <a:pPr algn="ctr"/>
            <a:r>
              <a:rPr lang="en-GB" sz="1200" b="1" dirty="0"/>
              <a:t>Unfavourable Disease Outcome</a:t>
            </a:r>
            <a:r>
              <a:rPr lang="en-GB" sz="1200" dirty="0"/>
              <a:t> (Reduced but persistent CI-MO) – Switch to Faricimab OR Ozurdex OR Continue up to 3 more monthly injections and reassess at 6 months</a:t>
            </a:r>
          </a:p>
          <a:p>
            <a:pPr algn="ctr"/>
            <a:r>
              <a:rPr lang="en-GB" sz="1200" b="1" dirty="0"/>
              <a:t>Poor Disease Outcome</a:t>
            </a:r>
            <a:r>
              <a:rPr lang="en-GB" sz="1200" dirty="0"/>
              <a:t> (No change/worsening in VA and CMT) - Switch to Faricimab OR Ozurdex OR Stop</a:t>
            </a:r>
          </a:p>
          <a:p>
            <a:pPr algn="ctr"/>
            <a:endParaRPr lang="en-GB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BD980-2142-E2E4-222C-7ADFC2F22C8F}"/>
              </a:ext>
            </a:extLst>
          </p:cNvPr>
          <p:cNvSpPr txBox="1"/>
          <p:nvPr/>
        </p:nvSpPr>
        <p:spPr>
          <a:xfrm>
            <a:off x="10299858" y="1048233"/>
            <a:ext cx="1543199" cy="27699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200" dirty="0"/>
              <a:t>Maximum switches: 3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8DD9D0-BC5F-6C69-7DD9-A2B8CC981F7D}"/>
              </a:ext>
            </a:extLst>
          </p:cNvPr>
          <p:cNvSpPr txBox="1"/>
          <p:nvPr/>
        </p:nvSpPr>
        <p:spPr>
          <a:xfrm>
            <a:off x="8783215" y="1928499"/>
            <a:ext cx="3033286" cy="1754326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Consider STOPPING 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VA &lt;15 letters attributed to RVO </a:t>
            </a:r>
          </a:p>
          <a:p>
            <a:r>
              <a:rPr lang="en-GB" sz="1200" dirty="0">
                <a:solidFill>
                  <a:schemeClr val="bg1"/>
                </a:solidFill>
              </a:rPr>
              <a:t>OR </a:t>
            </a:r>
          </a:p>
          <a:p>
            <a:r>
              <a:rPr lang="en-GB" sz="1200" dirty="0">
                <a:solidFill>
                  <a:schemeClr val="bg1"/>
                </a:solidFill>
              </a:rPr>
              <a:t>No response (i.e. no change or worsening CI-MO compared to baseline) </a:t>
            </a:r>
          </a:p>
          <a:p>
            <a:r>
              <a:rPr lang="en-GB" sz="1200" dirty="0">
                <a:solidFill>
                  <a:schemeClr val="bg1"/>
                </a:solidFill>
              </a:rPr>
              <a:t>OR </a:t>
            </a:r>
          </a:p>
          <a:p>
            <a:r>
              <a:rPr lang="en-GB" sz="1200" dirty="0">
                <a:solidFill>
                  <a:schemeClr val="bg1"/>
                </a:solidFill>
              </a:rPr>
              <a:t>Complete resolution of CI-MO with no </a:t>
            </a:r>
          </a:p>
          <a:p>
            <a:r>
              <a:rPr lang="en-GB" sz="1200" dirty="0">
                <a:solidFill>
                  <a:schemeClr val="bg1"/>
                </a:solidFill>
              </a:rPr>
              <a:t>potential for visual acuity improvement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5E1E3-0569-ED8D-621A-329C143C6335}"/>
              </a:ext>
            </a:extLst>
          </p:cNvPr>
          <p:cNvSpPr txBox="1"/>
          <p:nvPr/>
        </p:nvSpPr>
        <p:spPr>
          <a:xfrm>
            <a:off x="9110262" y="6552776"/>
            <a:ext cx="15840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v.8.4 updated on 29.04.26 </a:t>
            </a:r>
          </a:p>
        </p:txBody>
      </p:sp>
    </p:spTree>
    <p:extLst>
      <p:ext uri="{BB962C8B-B14F-4D97-AF65-F5344CB8AC3E}">
        <p14:creationId xmlns:p14="http://schemas.microsoft.com/office/powerpoint/2010/main" val="2122547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1082</Words>
  <Application>Microsoft Office PowerPoint</Application>
  <PresentationFormat>Widescreen</PresentationFormat>
  <Paragraphs>118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Stacey Mamane</dc:creator>
  <cp:lastModifiedBy>Parth Shah</cp:lastModifiedBy>
  <cp:revision>37</cp:revision>
  <cp:lastPrinted>2024-11-25T09:14:54Z</cp:lastPrinted>
  <dcterms:created xsi:type="dcterms:W3CDTF">2022-07-17T22:19:48Z</dcterms:created>
  <dcterms:modified xsi:type="dcterms:W3CDTF">2026-04-29T07:38:48Z</dcterms:modified>
</cp:coreProperties>
</file>